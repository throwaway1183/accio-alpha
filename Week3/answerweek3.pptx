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504000" y="1326600"/>
            <a:ext cx="9071640" cy="3288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6B17DB66-723F-41E5-B77C-735CF6A65D82}"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9B6274C-0BC8-46AA-8B70-2B400CA9E470}"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fld id="{C6CC8627-4347-478F-91D8-34DE14CDC106}"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74160"/>
            <a:ext cx="9071640" cy="125028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Week 3 Assignment</a:t>
            </a:r>
            <a:br>
              <a:rPr sz="4400"/>
            </a:br>
            <a:r>
              <a:rPr b="0" lang="en-US" sz="4400" spc="-1" strike="noStrike">
                <a:solidFill>
                  <a:srgbClr val="000000"/>
                </a:solidFill>
                <a:latin typeface="Arial"/>
              </a:rPr>
              <a:t>Accio Alpha</a:t>
            </a:r>
            <a:endParaRPr b="0" lang="en-US" sz="4400" spc="-1" strike="noStrike">
              <a:solidFill>
                <a:srgbClr val="000000"/>
              </a:solidFill>
              <a:latin typeface="Arial"/>
            </a:endParaRPr>
          </a:p>
        </p:txBody>
      </p:sp>
      <p:sp>
        <p:nvSpPr>
          <p:cNvPr id="10"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r>
              <a:rPr b="0" lang="en-US" sz="3200" spc="-1" strike="noStrike">
                <a:solidFill>
                  <a:srgbClr val="000000"/>
                </a:solidFill>
                <a:latin typeface="Arial"/>
              </a:rPr>
              <a:t>Paramater Exploration tasks</a:t>
            </a:r>
            <a:br>
              <a:rPr sz="3200"/>
            </a:b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Increasing R(Measurement noise)</a:t>
            </a:r>
            <a:endParaRPr b="0" lang="en-US" sz="4400" spc="-1" strike="noStrike">
              <a:solidFill>
                <a:srgbClr val="000000"/>
              </a:solidFill>
              <a:latin typeface="Arial"/>
            </a:endParaRPr>
          </a:p>
        </p:txBody>
      </p:sp>
      <p:pic>
        <p:nvPicPr>
          <p:cNvPr id="12" name="" descr=""/>
          <p:cNvPicPr/>
          <p:nvPr/>
        </p:nvPicPr>
        <p:blipFill>
          <a:blip r:embed="rId1"/>
          <a:stretch/>
        </p:blipFill>
        <p:spPr>
          <a:xfrm rot="13200">
            <a:off x="6175440" y="1186560"/>
            <a:ext cx="3650760" cy="1778040"/>
          </a:xfrm>
          <a:prstGeom prst="rect">
            <a:avLst/>
          </a:prstGeom>
          <a:ln w="0">
            <a:noFill/>
          </a:ln>
        </p:spPr>
      </p:pic>
      <p:sp>
        <p:nvSpPr>
          <p:cNvPr id="13" name=""/>
          <p:cNvSpPr txBox="1"/>
          <p:nvPr/>
        </p:nvSpPr>
        <p:spPr>
          <a:xfrm>
            <a:off x="228600" y="1325520"/>
            <a:ext cx="5979600" cy="827640"/>
          </a:xfrm>
          <a:prstGeom prst="rect">
            <a:avLst/>
          </a:prstGeom>
          <a:noFill/>
          <a:ln w="0">
            <a:noFill/>
          </a:ln>
        </p:spPr>
        <p:txBody>
          <a:bodyPr wrap="none" lIns="90000" rIns="90000" tIns="45000" bIns="45000" anchor="t">
            <a:noAutofit/>
          </a:bodyPr>
          <a:p>
            <a:r>
              <a:rPr b="0" lang="en-US" sz="1300" spc="-1" strike="noStrike">
                <a:solidFill>
                  <a:srgbClr val="000000"/>
                </a:solidFill>
                <a:latin typeface="Arial"/>
              </a:rPr>
              <a:t>The following graphs show how the results evolve with increasing R values.</a:t>
            </a:r>
            <a:br>
              <a:rPr sz="1300"/>
            </a:br>
            <a:r>
              <a:rPr b="0" lang="en-US" sz="1300" spc="-1" strike="noStrike">
                <a:solidFill>
                  <a:srgbClr val="000000"/>
                </a:solidFill>
                <a:latin typeface="Arial"/>
              </a:rPr>
              <a:t>The measurements tend to spread out more from true values, and predictions </a:t>
            </a:r>
            <a:endParaRPr b="0" lang="en-US" sz="1300" spc="-1" strike="noStrike">
              <a:solidFill>
                <a:srgbClr val="000000"/>
              </a:solidFill>
              <a:latin typeface="Arial"/>
            </a:endParaRPr>
          </a:p>
          <a:p>
            <a:r>
              <a:rPr b="0" lang="en-US" sz="1300" spc="-1" strike="noStrike">
                <a:solidFill>
                  <a:srgbClr val="000000"/>
                </a:solidFill>
                <a:latin typeface="Arial"/>
              </a:rPr>
              <a:t>Dominate the estimate. Less trust is placed on the measurements and more on </a:t>
            </a:r>
            <a:br>
              <a:rPr sz="1300"/>
            </a:br>
            <a:r>
              <a:rPr b="0" lang="en-US" sz="1300" spc="-1" strike="noStrike">
                <a:solidFill>
                  <a:srgbClr val="000000"/>
                </a:solidFill>
                <a:latin typeface="Arial"/>
              </a:rPr>
              <a:t>the prediction model. A smaller Kalman gain is observed  </a:t>
            </a:r>
            <a:endParaRPr b="0" lang="en-US" sz="1300" spc="-1" strike="noStrike">
              <a:solidFill>
                <a:srgbClr val="000000"/>
              </a:solidFill>
              <a:latin typeface="Arial"/>
            </a:endParaRPr>
          </a:p>
        </p:txBody>
      </p:sp>
      <p:sp>
        <p:nvSpPr>
          <p:cNvPr id="14" name=""/>
          <p:cNvSpPr txBox="1"/>
          <p:nvPr/>
        </p:nvSpPr>
        <p:spPr>
          <a:xfrm>
            <a:off x="6946920" y="3287160"/>
            <a:ext cx="1739880" cy="827640"/>
          </a:xfrm>
          <a:prstGeom prst="rect">
            <a:avLst/>
          </a:prstGeom>
          <a:noFill/>
          <a:ln w="0">
            <a:noFill/>
          </a:ln>
        </p:spPr>
        <p:txBody>
          <a:bodyPr wrap="none" lIns="90000" rIns="90000" tIns="45000" bIns="45000" anchor="t">
            <a:noAutofit/>
          </a:bodyPr>
          <a:p>
            <a:r>
              <a:rPr b="0" lang="en-US" sz="1300" spc="-1" strike="noStrike">
                <a:solidFill>
                  <a:srgbClr val="000000"/>
                </a:solidFill>
                <a:latin typeface="Arial"/>
              </a:rPr>
              <a:t>Top left: R = 4</a:t>
            </a:r>
            <a:br>
              <a:rPr sz="1300"/>
            </a:br>
            <a:r>
              <a:rPr b="0" lang="en-US" sz="1300" spc="-1" strike="noStrike">
                <a:solidFill>
                  <a:srgbClr val="000000"/>
                </a:solidFill>
                <a:latin typeface="Arial"/>
              </a:rPr>
              <a:t>Top right: R = 8</a:t>
            </a:r>
            <a:endParaRPr b="0" lang="en-US" sz="1300" spc="-1" strike="noStrike">
              <a:solidFill>
                <a:srgbClr val="000000"/>
              </a:solidFill>
              <a:latin typeface="Arial"/>
            </a:endParaRPr>
          </a:p>
          <a:p>
            <a:r>
              <a:rPr b="0" lang="en-US" sz="1300" spc="-1" strike="noStrike">
                <a:solidFill>
                  <a:srgbClr val="000000"/>
                </a:solidFill>
                <a:latin typeface="Arial"/>
              </a:rPr>
              <a:t>Bottom left: R = 10</a:t>
            </a:r>
            <a:br>
              <a:rPr sz="1300"/>
            </a:br>
            <a:r>
              <a:rPr b="0" lang="en-US" sz="1300" spc="-1" strike="noStrike">
                <a:solidFill>
                  <a:srgbClr val="000000"/>
                </a:solidFill>
                <a:latin typeface="Arial"/>
              </a:rPr>
              <a:t>Bottom right: R = 100</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Increasing Q(Process noise)</a:t>
            </a:r>
            <a:endParaRPr b="0" lang="en-US" sz="4400" spc="-1" strike="noStrike">
              <a:solidFill>
                <a:srgbClr val="000000"/>
              </a:solidFill>
              <a:latin typeface="Arial"/>
            </a:endParaRPr>
          </a:p>
        </p:txBody>
      </p:sp>
      <p:pic>
        <p:nvPicPr>
          <p:cNvPr id="16" name="" descr=""/>
          <p:cNvPicPr/>
          <p:nvPr/>
        </p:nvPicPr>
        <p:blipFill>
          <a:blip r:embed="rId1"/>
          <a:stretch/>
        </p:blipFill>
        <p:spPr>
          <a:xfrm>
            <a:off x="6172200" y="1143000"/>
            <a:ext cx="3657600" cy="1947600"/>
          </a:xfrm>
          <a:prstGeom prst="rect">
            <a:avLst/>
          </a:prstGeom>
          <a:ln w="0">
            <a:noFill/>
          </a:ln>
        </p:spPr>
      </p:pic>
      <p:sp>
        <p:nvSpPr>
          <p:cNvPr id="17" name=""/>
          <p:cNvSpPr txBox="1"/>
          <p:nvPr/>
        </p:nvSpPr>
        <p:spPr>
          <a:xfrm>
            <a:off x="7234920" y="3429000"/>
            <a:ext cx="1680480" cy="827640"/>
          </a:xfrm>
          <a:prstGeom prst="rect">
            <a:avLst/>
          </a:prstGeom>
          <a:noFill/>
          <a:ln w="0">
            <a:noFill/>
          </a:ln>
        </p:spPr>
        <p:txBody>
          <a:bodyPr wrap="none" lIns="90000" rIns="90000" tIns="45000" bIns="45000" anchor="t">
            <a:noAutofit/>
          </a:bodyPr>
          <a:p>
            <a:r>
              <a:rPr b="0" lang="en-US" sz="1300" spc="-1" strike="noStrike">
                <a:solidFill>
                  <a:srgbClr val="000000"/>
                </a:solidFill>
                <a:latin typeface="Arial"/>
              </a:rPr>
              <a:t>Top Left: Q - 0.1</a:t>
            </a:r>
            <a:br>
              <a:rPr sz="1300"/>
            </a:br>
            <a:r>
              <a:rPr b="0" lang="en-US" sz="1300" spc="-1" strike="noStrike">
                <a:solidFill>
                  <a:srgbClr val="000000"/>
                </a:solidFill>
                <a:latin typeface="Arial"/>
              </a:rPr>
              <a:t>Top Right: Q - 1</a:t>
            </a:r>
            <a:endParaRPr b="0" lang="en-US" sz="1300" spc="-1" strike="noStrike">
              <a:solidFill>
                <a:srgbClr val="000000"/>
              </a:solidFill>
              <a:latin typeface="Arial"/>
            </a:endParaRPr>
          </a:p>
          <a:p>
            <a:r>
              <a:rPr b="0" lang="en-US" sz="1300" spc="-1" strike="noStrike">
                <a:solidFill>
                  <a:srgbClr val="000000"/>
                </a:solidFill>
                <a:latin typeface="Arial"/>
              </a:rPr>
              <a:t>Bottom Left: Q - 3 </a:t>
            </a:r>
            <a:endParaRPr b="0" lang="en-US" sz="1300" spc="-1" strike="noStrike">
              <a:solidFill>
                <a:srgbClr val="000000"/>
              </a:solidFill>
              <a:latin typeface="Arial"/>
            </a:endParaRPr>
          </a:p>
          <a:p>
            <a:r>
              <a:rPr b="0" lang="en-US" sz="1300" spc="-1" strike="noStrike">
                <a:solidFill>
                  <a:srgbClr val="000000"/>
                </a:solidFill>
                <a:latin typeface="Arial"/>
              </a:rPr>
              <a:t>Bottom Right: Q - 10</a:t>
            </a:r>
            <a:endParaRPr b="0" lang="en-US" sz="1300" spc="-1" strike="noStrike">
              <a:solidFill>
                <a:srgbClr val="000000"/>
              </a:solidFill>
              <a:latin typeface="Arial"/>
            </a:endParaRPr>
          </a:p>
        </p:txBody>
      </p:sp>
      <p:sp>
        <p:nvSpPr>
          <p:cNvPr id="18" name=""/>
          <p:cNvSpPr txBox="1"/>
          <p:nvPr/>
        </p:nvSpPr>
        <p:spPr>
          <a:xfrm>
            <a:off x="914400" y="1600200"/>
            <a:ext cx="5046840" cy="643320"/>
          </a:xfrm>
          <a:prstGeom prst="rect">
            <a:avLst/>
          </a:prstGeom>
          <a:noFill/>
          <a:ln w="0">
            <a:noFill/>
          </a:ln>
        </p:spPr>
        <p:txBody>
          <a:bodyPr wrap="none" lIns="90000" rIns="90000" tIns="45000" bIns="45000" anchor="t">
            <a:noAutofit/>
          </a:bodyPr>
          <a:p>
            <a:r>
              <a:rPr b="0" lang="en-US" sz="1300" spc="-1" strike="noStrike">
                <a:solidFill>
                  <a:srgbClr val="000000"/>
                </a:solidFill>
                <a:latin typeface="Arial"/>
              </a:rPr>
              <a:t>Increasing Q(process noise) places less certainty on the Prediction</a:t>
            </a:r>
            <a:br>
              <a:rPr sz="1300"/>
            </a:br>
            <a:r>
              <a:rPr b="0" lang="en-US" sz="1300" spc="-1" strike="noStrike">
                <a:solidFill>
                  <a:srgbClr val="000000"/>
                </a:solidFill>
                <a:latin typeface="Arial"/>
              </a:rPr>
              <a:t>Model and more trust on the measurements. As a result the graph</a:t>
            </a:r>
            <a:br>
              <a:rPr sz="1300"/>
            </a:br>
            <a:r>
              <a:rPr b="0" lang="en-US" sz="1300" spc="-1" strike="noStrike">
                <a:solidFill>
                  <a:srgbClr val="000000"/>
                </a:solidFill>
                <a:latin typeface="Arial"/>
              </a:rPr>
              <a:t>is noisy but follows the measurements more closely</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74160"/>
            <a:ext cx="9071640" cy="125028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Starting with very small initial uncertainty (P)</a:t>
            </a:r>
            <a:endParaRPr b="0" lang="en-US" sz="4400" spc="-1" strike="noStrike">
              <a:solidFill>
                <a:srgbClr val="000000"/>
              </a:solidFill>
              <a:latin typeface="Arial"/>
            </a:endParaRPr>
          </a:p>
        </p:txBody>
      </p:sp>
      <p:sp>
        <p:nvSpPr>
          <p:cNvPr id="20" name="PlaceHolder 2"/>
          <p:cNvSpPr>
            <a:spLocks noGrp="1"/>
          </p:cNvSpPr>
          <p:nvPr>
            <p:ph/>
          </p:nvPr>
        </p:nvSpPr>
        <p:spPr>
          <a:xfrm>
            <a:off x="504000" y="1326600"/>
            <a:ext cx="9071640" cy="3288240"/>
          </a:xfrm>
          <a:prstGeom prst="rect">
            <a:avLst/>
          </a:prstGeom>
          <a:noFill/>
          <a:ln w="0">
            <a:noFill/>
          </a:ln>
        </p:spPr>
        <p:txBody>
          <a:bodyPr lIns="0" rIns="0" tIns="0" bIns="0" anchor="t">
            <a:normAutofit/>
          </a:bodyPr>
          <a:p>
            <a:pPr marL="432000" indent="0">
              <a:spcBef>
                <a:spcPts val="1417"/>
              </a:spcBef>
              <a:buNone/>
            </a:pPr>
            <a:r>
              <a:rPr b="0" lang="en-US" sz="1300" spc="-1" strike="noStrike">
                <a:solidFill>
                  <a:srgbClr val="000000"/>
                </a:solidFill>
                <a:latin typeface="Arial"/>
              </a:rPr>
              <a:t>When estimates graph is plotted with varying P values, I noticed that for large P values the model trusts the measurements more right from the early stages, however with smaller P values the filter response is slightly delayed.</a:t>
            </a:r>
            <a:endParaRPr b="0" lang="en-US" sz="1300" spc="-1" strike="noStrike">
              <a:solidFill>
                <a:srgbClr val="000000"/>
              </a:solidFill>
              <a:latin typeface="Arial"/>
            </a:endParaRPr>
          </a:p>
          <a:p>
            <a:pPr marL="432000" indent="0">
              <a:spcBef>
                <a:spcPts val="1417"/>
              </a:spcBef>
              <a:buNone/>
            </a:pPr>
            <a:r>
              <a:rPr b="0" lang="en-US" sz="1300" spc="-1" strike="noStrike">
                <a:solidFill>
                  <a:srgbClr val="000000"/>
                </a:solidFill>
                <a:latin typeface="Arial"/>
              </a:rPr>
              <a:t>Initially the Kalman gain is very low and measurements are mostly ignored. However as the filter goes, the Kalman gain increases and the filter adjusts and converges to the true state.</a:t>
            </a:r>
            <a:endParaRPr b="0" lang="en-US" sz="1300" spc="-1" strike="noStrike">
              <a:solidFill>
                <a:srgbClr val="000000"/>
              </a:solidFill>
              <a:latin typeface="Arial"/>
            </a:endParaRPr>
          </a:p>
        </p:txBody>
      </p:sp>
      <p:pic>
        <p:nvPicPr>
          <p:cNvPr id="21" name="" descr=""/>
          <p:cNvPicPr/>
          <p:nvPr/>
        </p:nvPicPr>
        <p:blipFill>
          <a:blip r:embed="rId1"/>
          <a:stretch/>
        </p:blipFill>
        <p:spPr>
          <a:xfrm>
            <a:off x="5029200" y="2597040"/>
            <a:ext cx="4572000" cy="2203560"/>
          </a:xfrm>
          <a:prstGeom prst="rect">
            <a:avLst/>
          </a:prstGeom>
          <a:ln w="0">
            <a:noFill/>
          </a:ln>
        </p:spPr>
      </p:pic>
      <p:sp>
        <p:nvSpPr>
          <p:cNvPr id="22" name=""/>
          <p:cNvSpPr txBox="1"/>
          <p:nvPr/>
        </p:nvSpPr>
        <p:spPr>
          <a:xfrm>
            <a:off x="6829560" y="5029200"/>
            <a:ext cx="942840" cy="346320"/>
          </a:xfrm>
          <a:prstGeom prst="rect">
            <a:avLst/>
          </a:prstGeom>
          <a:noFill/>
          <a:ln w="0">
            <a:noFill/>
          </a:ln>
        </p:spPr>
        <p:txBody>
          <a:bodyPr wrap="none" lIns="90000" rIns="90000" tIns="45000" bIns="45000" anchor="t">
            <a:noAutofit/>
          </a:bodyPr>
          <a:p>
            <a:r>
              <a:rPr b="0" lang="en-US" sz="1800" spc="-1" strike="noStrike">
                <a:solidFill>
                  <a:srgbClr val="000000"/>
                </a:solidFill>
                <a:latin typeface="Arial"/>
              </a:rPr>
              <a:t>Small p</a:t>
            </a:r>
            <a:endParaRPr b="0" lang="en-US" sz="1800" spc="-1" strike="noStrike">
              <a:solidFill>
                <a:srgbClr val="000000"/>
              </a:solidFill>
              <a:latin typeface="Arial"/>
            </a:endParaRPr>
          </a:p>
        </p:txBody>
      </p:sp>
      <p:pic>
        <p:nvPicPr>
          <p:cNvPr id="23" name="" descr=""/>
          <p:cNvPicPr/>
          <p:nvPr/>
        </p:nvPicPr>
        <p:blipFill>
          <a:blip r:embed="rId2"/>
          <a:stretch/>
        </p:blipFill>
        <p:spPr>
          <a:xfrm>
            <a:off x="91080" y="2514600"/>
            <a:ext cx="4572000" cy="2185560"/>
          </a:xfrm>
          <a:prstGeom prst="rect">
            <a:avLst/>
          </a:prstGeom>
          <a:ln w="0">
            <a:noFill/>
          </a:ln>
        </p:spPr>
      </p:pic>
      <p:sp>
        <p:nvSpPr>
          <p:cNvPr id="24" name=""/>
          <p:cNvSpPr txBox="1"/>
          <p:nvPr/>
        </p:nvSpPr>
        <p:spPr>
          <a:xfrm>
            <a:off x="2057400" y="5029200"/>
            <a:ext cx="955080" cy="346320"/>
          </a:xfrm>
          <a:prstGeom prst="rect">
            <a:avLst/>
          </a:prstGeom>
          <a:noFill/>
          <a:ln w="0">
            <a:noFill/>
          </a:ln>
        </p:spPr>
        <p:txBody>
          <a:bodyPr wrap="none" lIns="90000" rIns="90000" tIns="45000" bIns="45000" anchor="t">
            <a:noAutofit/>
          </a:bodyPr>
          <a:p>
            <a:r>
              <a:rPr b="0" lang="en-US" sz="1800" spc="-1" strike="noStrike">
                <a:solidFill>
                  <a:srgbClr val="000000"/>
                </a:solidFill>
                <a:latin typeface="Arial"/>
              </a:rPr>
              <a:t>Large p</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PlaceHolder 1"/>
          <p:cNvSpPr>
            <a:spLocks noGrp="1"/>
          </p:cNvSpPr>
          <p:nvPr>
            <p:ph type="title"/>
          </p:nvPr>
        </p:nvSpPr>
        <p:spPr>
          <a:xfrm>
            <a:off x="504000" y="74160"/>
            <a:ext cx="9071640" cy="125028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Starting with a very wrong initial state</a:t>
            </a:r>
            <a:endParaRPr b="0" lang="en-US" sz="4400" spc="-1" strike="noStrike">
              <a:solidFill>
                <a:srgbClr val="000000"/>
              </a:solidFill>
              <a:latin typeface="Arial"/>
            </a:endParaRPr>
          </a:p>
        </p:txBody>
      </p:sp>
      <p:sp>
        <p:nvSpPr>
          <p:cNvPr id="26" name="PlaceHolder 2"/>
          <p:cNvSpPr>
            <a:spLocks noGrp="1"/>
          </p:cNvSpPr>
          <p:nvPr>
            <p:ph/>
          </p:nvPr>
        </p:nvSpPr>
        <p:spPr>
          <a:xfrm>
            <a:off x="504000" y="1326600"/>
            <a:ext cx="9071640" cy="3288240"/>
          </a:xfrm>
          <a:prstGeom prst="rect">
            <a:avLst/>
          </a:prstGeom>
          <a:noFill/>
          <a:ln w="0">
            <a:noFill/>
          </a:ln>
        </p:spPr>
        <p:txBody>
          <a:bodyPr lIns="0" rIns="0" tIns="0" bIns="0" anchor="t">
            <a:normAutofit/>
          </a:bodyPr>
          <a:p>
            <a:pPr marL="432000" indent="0">
              <a:spcBef>
                <a:spcPts val="1417"/>
              </a:spcBef>
              <a:buNone/>
            </a:pPr>
            <a:r>
              <a:rPr b="0" lang="en-US" sz="1300" spc="-1" strike="noStrike">
                <a:solidFill>
                  <a:srgbClr val="000000"/>
                </a:solidFill>
                <a:latin typeface="Arial"/>
              </a:rPr>
              <a:t>Yes the filter does recover as long as there is non zero Process noise Q.</a:t>
            </a:r>
            <a:endParaRPr b="0" lang="en-US" sz="1300" spc="-1" strike="noStrike">
              <a:solidFill>
                <a:srgbClr val="000000"/>
              </a:solidFill>
              <a:latin typeface="Arial"/>
            </a:endParaRPr>
          </a:p>
        </p:txBody>
      </p:sp>
      <p:pic>
        <p:nvPicPr>
          <p:cNvPr id="27" name="" descr=""/>
          <p:cNvPicPr/>
          <p:nvPr/>
        </p:nvPicPr>
        <p:blipFill>
          <a:blip r:embed="rId1"/>
          <a:stretch/>
        </p:blipFill>
        <p:spPr>
          <a:xfrm>
            <a:off x="228600" y="1828800"/>
            <a:ext cx="4572000" cy="2331720"/>
          </a:xfrm>
          <a:prstGeom prst="rect">
            <a:avLst/>
          </a:prstGeom>
          <a:ln w="0">
            <a:noFill/>
          </a:ln>
        </p:spPr>
      </p:pic>
      <p:sp>
        <p:nvSpPr>
          <p:cNvPr id="28" name=""/>
          <p:cNvSpPr txBox="1"/>
          <p:nvPr/>
        </p:nvSpPr>
        <p:spPr>
          <a:xfrm>
            <a:off x="1776240" y="4426920"/>
            <a:ext cx="966960" cy="602280"/>
          </a:xfrm>
          <a:prstGeom prst="rect">
            <a:avLst/>
          </a:prstGeom>
          <a:noFill/>
          <a:ln w="0">
            <a:noFill/>
          </a:ln>
        </p:spPr>
        <p:txBody>
          <a:bodyPr wrap="none" lIns="90000" rIns="90000" tIns="45000" bIns="45000" anchor="t">
            <a:noAutofit/>
          </a:bodyPr>
          <a:p>
            <a:r>
              <a:rPr b="0" lang="en-US" sz="1800" spc="-1" strike="noStrike">
                <a:solidFill>
                  <a:srgbClr val="000000"/>
                </a:solidFill>
                <a:latin typeface="Arial"/>
              </a:rPr>
              <a:t>Original</a:t>
            </a:r>
            <a:endParaRPr b="0" lang="en-US" sz="1800" spc="-1" strike="noStrike">
              <a:solidFill>
                <a:srgbClr val="000000"/>
              </a:solidFill>
              <a:latin typeface="Arial"/>
            </a:endParaRPr>
          </a:p>
          <a:p>
            <a:endParaRPr b="0" lang="en-US" sz="1800" spc="-1" strike="noStrike">
              <a:solidFill>
                <a:srgbClr val="000000"/>
              </a:solidFill>
              <a:latin typeface="Arial"/>
            </a:endParaRPr>
          </a:p>
        </p:txBody>
      </p:sp>
      <p:pic>
        <p:nvPicPr>
          <p:cNvPr id="29" name="" descr=""/>
          <p:cNvPicPr/>
          <p:nvPr/>
        </p:nvPicPr>
        <p:blipFill>
          <a:blip r:embed="rId2"/>
          <a:stretch/>
        </p:blipFill>
        <p:spPr>
          <a:xfrm>
            <a:off x="5003640" y="1828800"/>
            <a:ext cx="4572000" cy="2249280"/>
          </a:xfrm>
          <a:prstGeom prst="rect">
            <a:avLst/>
          </a:prstGeom>
          <a:ln w="0">
            <a:noFill/>
          </a:ln>
        </p:spPr>
      </p:pic>
      <p:sp>
        <p:nvSpPr>
          <p:cNvPr id="30" name=""/>
          <p:cNvSpPr txBox="1"/>
          <p:nvPr/>
        </p:nvSpPr>
        <p:spPr>
          <a:xfrm>
            <a:off x="5486400" y="4454280"/>
            <a:ext cx="3992400" cy="346320"/>
          </a:xfrm>
          <a:prstGeom prst="rect">
            <a:avLst/>
          </a:prstGeom>
          <a:noFill/>
          <a:ln w="0">
            <a:noFill/>
          </a:ln>
        </p:spPr>
        <p:txBody>
          <a:bodyPr wrap="none" lIns="90000" rIns="90000" tIns="45000" bIns="45000" anchor="t">
            <a:noAutofit/>
          </a:bodyPr>
          <a:p>
            <a:r>
              <a:rPr b="0" lang="en-US" sz="1800" spc="-1" strike="noStrike">
                <a:solidFill>
                  <a:srgbClr val="000000"/>
                </a:solidFill>
                <a:latin typeface="Arial"/>
              </a:rPr>
              <a:t>Using a wrong guess (50 in this case)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2026-01-03T22:28:45Z</dcterms:created>
  <dc:creator/>
  <dc:description/>
  <dc:language>en-US</dc:language>
  <cp:lastModifiedBy/>
  <dcterms:modified xsi:type="dcterms:W3CDTF">2026-01-03T23:13:10Z</dcterms:modified>
  <cp:revision>1</cp:revision>
  <dc:subject/>
  <dc:title/>
</cp:coreProperties>
</file>